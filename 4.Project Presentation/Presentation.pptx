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  <p:sldMasterId id="2147483909" r:id="rId5"/>
  </p:sldMasterIdLst>
  <p:notesMasterIdLst>
    <p:notesMasterId r:id="rId12"/>
  </p:notesMasterIdLst>
  <p:sldIdLst>
    <p:sldId id="289" r:id="rId6"/>
    <p:sldId id="293" r:id="rId7"/>
    <p:sldId id="291" r:id="rId8"/>
    <p:sldId id="292" r:id="rId9"/>
    <p:sldId id="294" r:id="rId10"/>
    <p:sldId id="295" r:id="rId11"/>
  </p:sldIdLst>
  <p:sldSz cx="13817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F9A"/>
    <a:srgbClr val="5189BB"/>
    <a:srgbClr val="0B76A0"/>
    <a:srgbClr val="17868E"/>
    <a:srgbClr val="F142BC"/>
    <a:srgbClr val="30A4BB"/>
    <a:srgbClr val="26B7C6"/>
    <a:srgbClr val="46866D"/>
    <a:srgbClr val="175569"/>
    <a:srgbClr val="4B81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94"/>
  </p:normalViewPr>
  <p:slideViewPr>
    <p:cSldViewPr snapToGrid="0">
      <p:cViewPr varScale="1">
        <p:scale>
          <a:sx n="93" d="100"/>
          <a:sy n="93" d="100"/>
        </p:scale>
        <p:origin x="624" y="78"/>
      </p:cViewPr>
      <p:guideLst>
        <p:guide orient="horz" pos="2448"/>
        <p:guide pos="4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wnloads\NO1111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wnloads\NO111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wnloads\N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wnloads\NO111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7120957\Downloads\NO111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[NO1111.xlsx]Dashboard !PivotTable2</c:name>
    <c:fmtId val="23"/>
  </c:pivotSource>
  <c:chart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gradFill>
              <a:gsLst>
                <a:gs pos="0">
                  <a:schemeClr val="accent1"/>
                </a:gs>
                <a:gs pos="4600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l="50000" t="-80000" r="50000" b="180000"/>
              </a:path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gradFill>
              <a:gsLst>
                <a:gs pos="0">
                  <a:schemeClr val="accent2"/>
                </a:gs>
                <a:gs pos="46000">
                  <a:schemeClr val="accent2"/>
                </a:gs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</a:gsLst>
              <a:path path="circle">
                <a:fillToRect l="50000" t="-80000" r="50000" b="180000"/>
              </a:path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gradFill>
              <a:gsLst>
                <a:gs pos="0">
                  <a:schemeClr val="accent3"/>
                </a:gs>
                <a:gs pos="46000">
                  <a:schemeClr val="accent3"/>
                </a:gs>
                <a:gs pos="100000">
                  <a:schemeClr val="accent3">
                    <a:lumMod val="20000"/>
                    <a:lumOff val="80000"/>
                    <a:alpha val="0"/>
                  </a:schemeClr>
                </a:gs>
              </a:gsLst>
              <a:path path="circle">
                <a:fillToRect l="50000" t="-80000" r="50000" b="180000"/>
              </a:path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021629773748156"/>
          <c:y val="1.982985305491106E-2"/>
          <c:w val="0.60801934129468715"/>
          <c:h val="0.758170402713581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'Dashboard '!$B$29:$B$30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'!$A$31:$A$34</c:f>
              <c:strCache>
                <c:ptCount val="3"/>
                <c:pt idx="0">
                  <c:v>01 Morning</c:v>
                </c:pt>
                <c:pt idx="1">
                  <c:v>02 Afternoon</c:v>
                </c:pt>
                <c:pt idx="2">
                  <c:v>03 Evening</c:v>
                </c:pt>
              </c:strCache>
            </c:strRef>
          </c:cat>
          <c:val>
            <c:numRef>
              <c:f>'Dashboard '!$B$31:$B$34</c:f>
              <c:numCache>
                <c:formatCode>0.00%</c:formatCode>
                <c:ptCount val="3"/>
                <c:pt idx="0">
                  <c:v>0.15017267940879042</c:v>
                </c:pt>
                <c:pt idx="1">
                  <c:v>0.11242952739543101</c:v>
                </c:pt>
                <c:pt idx="2">
                  <c:v>6.9738680769985975E-2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E8-4063-B0CA-FDAF97078A81}"/>
            </c:ext>
          </c:extLst>
        </c:ser>
        <c:ser>
          <c:idx val="1"/>
          <c:order val="1"/>
          <c:tx>
            <c:strRef>
              <c:f>'Dashboard '!$C$29:$C$30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'!$A$31:$A$34</c:f>
              <c:strCache>
                <c:ptCount val="3"/>
                <c:pt idx="0">
                  <c:v>01 Morning</c:v>
                </c:pt>
                <c:pt idx="1">
                  <c:v>02 Afternoon</c:v>
                </c:pt>
                <c:pt idx="2">
                  <c:v>03 Evening</c:v>
                </c:pt>
              </c:strCache>
            </c:strRef>
          </c:cat>
          <c:val>
            <c:numRef>
              <c:f>'Dashboard '!$C$31:$C$34</c:f>
              <c:numCache>
                <c:formatCode>0.00%</c:formatCode>
                <c:ptCount val="3"/>
                <c:pt idx="0">
                  <c:v>0.19954327365689117</c:v>
                </c:pt>
                <c:pt idx="1">
                  <c:v>8.444674981622019E-2</c:v>
                </c:pt>
                <c:pt idx="2">
                  <c:v>5.4457310448428942E-2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E8-4063-B0CA-FDAF97078A81}"/>
            </c:ext>
          </c:extLst>
        </c:ser>
        <c:ser>
          <c:idx val="2"/>
          <c:order val="2"/>
          <c:tx>
            <c:strRef>
              <c:f>'Dashboard '!$D$29:$D$30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'!$A$31:$A$34</c:f>
              <c:strCache>
                <c:ptCount val="3"/>
                <c:pt idx="0">
                  <c:v>01 Morning</c:v>
                </c:pt>
                <c:pt idx="1">
                  <c:v>02 Afternoon</c:v>
                </c:pt>
                <c:pt idx="2">
                  <c:v>03 Evening</c:v>
                </c:pt>
              </c:strCache>
            </c:strRef>
          </c:cat>
          <c:val>
            <c:numRef>
              <c:f>'Dashboard '!$D$31:$D$34</c:f>
              <c:numCache>
                <c:formatCode>0.00%</c:formatCode>
                <c:ptCount val="3"/>
                <c:pt idx="0">
                  <c:v>0.20592488687198809</c:v>
                </c:pt>
                <c:pt idx="1">
                  <c:v>9.607910037878116E-2</c:v>
                </c:pt>
                <c:pt idx="2">
                  <c:v>2.7207791253482959E-2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E8-4063-B0CA-FDAF97078A8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143909504"/>
        <c:axId val="1143924384"/>
      </c:barChart>
      <c:catAx>
        <c:axId val="114390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924384"/>
        <c:crosses val="autoZero"/>
        <c:auto val="1"/>
        <c:lblAlgn val="ctr"/>
        <c:lblOffset val="100"/>
        <c:noMultiLvlLbl val="0"/>
      </c:catAx>
      <c:valAx>
        <c:axId val="114392438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90950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[NO1111.xlsx]Dashboard !PivotTable3</c:name>
    <c:fmtId val="3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-2.4922118380062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2.048655569782330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1.24610591900310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707212974818615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6.230529595015518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-2.492211838006230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7072129748186057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2.048655569782324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-1.1422505637102049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5364916773367352E-2"/>
              <c:y val="1.2461059190031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195049082373026E-2"/>
              <c:y val="2.18068535825545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-2.4922118380062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-2.492211838006230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6.230529595015518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707212974818615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1.24610591900310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7072129748186057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048655569782324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-1.1422505637102049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5364916773367352E-2"/>
              <c:y val="1.2461059190031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195049082373026E-2"/>
              <c:y val="2.18068535825545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048655569782330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-2.4922118380062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-2.492211838006230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6.230529595015518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707212974818615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1.24610591900310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7072129748186057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2.048655569782324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-1.1422505637102049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5364916773367352E-2"/>
              <c:y val="1.2461059190031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195049082373026E-2"/>
              <c:y val="2.18068535825545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2.048655569782330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-2.49221183800622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-2.492211838006230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15E-2"/>
              <c:y val="6.230529595015518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707212974818615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1.24610591900310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5364916773367477E-2"/>
              <c:y val="9.345794392523363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7072129748186057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2.048655569782324E-2"/>
              <c:y val="-3.11526479750778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8779342723004695E-2"/>
              <c:y val="-1.1422505637102049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5364916773367352E-2"/>
              <c:y val="1.2461059190031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1.195049082373026E-2"/>
              <c:y val="2.18068535825545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2.048655569782330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572286018665082"/>
          <c:y val="5.2071528442122303E-2"/>
          <c:w val="0.68636051095405648"/>
          <c:h val="0.738308681041038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'Dashboard '!$B$45:$B$46</c:f>
              <c:strCache>
                <c:ptCount val="1"/>
                <c:pt idx="0">
                  <c:v>01 Morning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1.55763239875389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9C3-4BFF-B628-0CA65E8F03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'Dashboard '!$A$47:$A$53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'Dashboard '!$B$47:$B$53</c:f>
              <c:numCache>
                <c:formatCode>0.00%</c:formatCode>
                <c:ptCount val="6"/>
                <c:pt idx="0">
                  <c:v>6.5523257152603487E-2</c:v>
                </c:pt>
                <c:pt idx="1">
                  <c:v>6.0203445465823499E-2</c:v>
                </c:pt>
                <c:pt idx="2">
                  <c:v>7.8408962818386441E-2</c:v>
                </c:pt>
                <c:pt idx="3">
                  <c:v>9.4836721040683331E-2</c:v>
                </c:pt>
                <c:pt idx="4">
                  <c:v>0.12475807345872088</c:v>
                </c:pt>
                <c:pt idx="5">
                  <c:v>0.13191038000145169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C3-4BFF-B628-0CA65E8F03EC}"/>
            </c:ext>
          </c:extLst>
        </c:ser>
        <c:ser>
          <c:idx val="1"/>
          <c:order val="1"/>
          <c:tx>
            <c:strRef>
              <c:f>'Dashboard '!$C$45:$C$46</c:f>
              <c:strCache>
                <c:ptCount val="1"/>
                <c:pt idx="0">
                  <c:v>02 Afternoon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C3-4BFF-B628-0CA65E8F03E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9C3-4BFF-B628-0CA65E8F03E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9C3-4BFF-B628-0CA65E8F03E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A9C3-4BFF-B628-0CA65E8F03E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9C3-4BFF-B628-0CA65E8F03E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A9C3-4BFF-B628-0CA65E8F03EC}"/>
              </c:ext>
            </c:extLst>
          </c:dPt>
          <c:dLbls>
            <c:dLbl>
              <c:idx val="0"/>
              <c:layout>
                <c:manualLayout>
                  <c:x val="1.5364916773367477E-2"/>
                  <c:y val="-2.49221183800622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9C3-4BFF-B628-0CA65E8F03EC}"/>
                </c:ext>
              </c:extLst>
            </c:dLbl>
            <c:dLbl>
              <c:idx val="1"/>
              <c:layout>
                <c:manualLayout>
                  <c:x val="1.5364916773367415E-2"/>
                  <c:y val="-2.49221183800623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9C3-4BFF-B628-0CA65E8F03EC}"/>
                </c:ext>
              </c:extLst>
            </c:dLbl>
            <c:dLbl>
              <c:idx val="2"/>
              <c:layout>
                <c:manualLayout>
                  <c:x val="1.5364916773367415E-2"/>
                  <c:y val="6.230529595015518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C3-4BFF-B628-0CA65E8F03EC}"/>
                </c:ext>
              </c:extLst>
            </c:dLbl>
            <c:dLbl>
              <c:idx val="3"/>
              <c:layout>
                <c:manualLayout>
                  <c:x val="1.707212974818615E-2"/>
                  <c:y val="9.34579439252336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9C3-4BFF-B628-0CA65E8F03EC}"/>
                </c:ext>
              </c:extLst>
            </c:dLbl>
            <c:dLbl>
              <c:idx val="4"/>
              <c:layout>
                <c:manualLayout>
                  <c:x val="1.8779342723004695E-2"/>
                  <c:y val="1.24610591900310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9C3-4BFF-B628-0CA65E8F03EC}"/>
                </c:ext>
              </c:extLst>
            </c:dLbl>
            <c:dLbl>
              <c:idx val="5"/>
              <c:layout>
                <c:manualLayout>
                  <c:x val="1.5364916773367477E-2"/>
                  <c:y val="9.34579439252336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9C3-4BFF-B628-0CA65E8F03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'Dashboard '!$A$47:$A$53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'Dashboard '!$C$47:$C$53</c:f>
              <c:numCache>
                <c:formatCode>0.00%</c:formatCode>
                <c:ptCount val="6"/>
                <c:pt idx="0">
                  <c:v>3.3846841254217754E-2</c:v>
                </c:pt>
                <c:pt idx="1">
                  <c:v>3.2519202973994528E-2</c:v>
                </c:pt>
                <c:pt idx="2">
                  <c:v>4.1409257904765386E-2</c:v>
                </c:pt>
                <c:pt idx="3">
                  <c:v>4.9510903735771244E-2</c:v>
                </c:pt>
                <c:pt idx="4">
                  <c:v>6.5806108486952453E-2</c:v>
                </c:pt>
                <c:pt idx="5">
                  <c:v>6.9863063234731376E-2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9C3-4BFF-B628-0CA65E8F03EC}"/>
            </c:ext>
          </c:extLst>
        </c:ser>
        <c:ser>
          <c:idx val="2"/>
          <c:order val="2"/>
          <c:tx>
            <c:strRef>
              <c:f>'Dashboard '!$D$45:$D$46</c:f>
              <c:strCache>
                <c:ptCount val="1"/>
                <c:pt idx="0">
                  <c:v>03 Evening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A9C3-4BFF-B628-0CA65E8F03E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9C3-4BFF-B628-0CA65E8F03E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A9C3-4BFF-B628-0CA65E8F03E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9C3-4BFF-B628-0CA65E8F03E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A9C3-4BFF-B628-0CA65E8F03E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9C3-4BFF-B628-0CA65E8F03EC}"/>
              </c:ext>
            </c:extLst>
          </c:dPt>
          <c:dLbls>
            <c:dLbl>
              <c:idx val="0"/>
              <c:layout>
                <c:manualLayout>
                  <c:x val="1.7072129748186057E-2"/>
                  <c:y val="-3.11526479750778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9C3-4BFF-B628-0CA65E8F03EC}"/>
                </c:ext>
              </c:extLst>
            </c:dLbl>
            <c:dLbl>
              <c:idx val="1"/>
              <c:layout>
                <c:manualLayout>
                  <c:x val="2.048655569782324E-2"/>
                  <c:y val="-3.11526479750778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9C3-4BFF-B628-0CA65E8F03EC}"/>
                </c:ext>
              </c:extLst>
            </c:dLbl>
            <c:dLbl>
              <c:idx val="2"/>
              <c:layout>
                <c:manualLayout>
                  <c:x val="1.8779342723004695E-2"/>
                  <c:y val="-1.1422505637102049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9C3-4BFF-B628-0CA65E8F03EC}"/>
                </c:ext>
              </c:extLst>
            </c:dLbl>
            <c:dLbl>
              <c:idx val="3"/>
              <c:layout>
                <c:manualLayout>
                  <c:x val="1.5364916773367352E-2"/>
                  <c:y val="1.24610591900311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9C3-4BFF-B628-0CA65E8F03EC}"/>
                </c:ext>
              </c:extLst>
            </c:dLbl>
            <c:dLbl>
              <c:idx val="4"/>
              <c:layout>
                <c:manualLayout>
                  <c:x val="1.195049082373026E-2"/>
                  <c:y val="2.18068535825545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9C3-4BFF-B628-0CA65E8F03EC}"/>
                </c:ext>
              </c:extLst>
            </c:dLbl>
            <c:dLbl>
              <c:idx val="5"/>
              <c:layout>
                <c:manualLayout>
                  <c:x val="2.048655569782330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9C3-4BFF-B628-0CA65E8F03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'Dashboard '!$A$47:$A$53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'Dashboard '!$D$47:$D$53</c:f>
              <c:numCache>
                <c:formatCode>0.00%</c:formatCode>
                <c:ptCount val="6"/>
                <c:pt idx="0">
                  <c:v>1.7510695611223731E-2</c:v>
                </c:pt>
                <c:pt idx="1">
                  <c:v>1.6241070045229483E-2</c:v>
                </c:pt>
                <c:pt idx="2">
                  <c:v>2.1614143528349058E-2</c:v>
                </c:pt>
                <c:pt idx="3">
                  <c:v>2.5856985093551554E-2</c:v>
                </c:pt>
                <c:pt idx="4">
                  <c:v>3.3713142983610535E-2</c:v>
                </c:pt>
                <c:pt idx="5">
                  <c:v>3.646774520993358E-2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9C3-4BFF-B628-0CA65E8F0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3934944"/>
        <c:axId val="1143935424"/>
      </c:barChart>
      <c:catAx>
        <c:axId val="114393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935424"/>
        <c:crosses val="autoZero"/>
        <c:auto val="1"/>
        <c:lblAlgn val="ctr"/>
        <c:lblOffset val="100"/>
        <c:noMultiLvlLbl val="0"/>
      </c:catAx>
      <c:valAx>
        <c:axId val="114393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9349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accent4"/>
                </a:solidFill>
              </a:rPr>
              <a:t>Number of Transaction By product</a:t>
            </a:r>
            <a:r>
              <a:rPr lang="en-US" b="1" baseline="0" dirty="0">
                <a:solidFill>
                  <a:schemeClr val="accent4"/>
                </a:solidFill>
              </a:rPr>
              <a:t>   </a:t>
            </a:r>
            <a:r>
              <a:rPr lang="en-US" b="1" dirty="0">
                <a:solidFill>
                  <a:schemeClr val="accent4"/>
                </a:solidFill>
              </a:rPr>
              <a:t>Category</a:t>
            </a:r>
          </a:p>
        </c:rich>
      </c:tx>
      <c:layout>
        <c:manualLayout>
          <c:xMode val="edge"/>
          <c:yMode val="edge"/>
          <c:x val="0.26518514602771653"/>
          <c:y val="1.26682501979414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9"/>
              <c:pt idx="0">
                <c:v>Coffee</c:v>
              </c:pt>
              <c:pt idx="1">
                <c:v>Tea</c:v>
              </c:pt>
              <c:pt idx="2">
                <c:v>Bakery</c:v>
              </c:pt>
              <c:pt idx="3">
                <c:v>Drinking Chocolate</c:v>
              </c:pt>
              <c:pt idx="4">
                <c:v>Flavours</c:v>
              </c:pt>
              <c:pt idx="5">
                <c:v>Coffee beans</c:v>
              </c:pt>
              <c:pt idx="6">
                <c:v>Loose Tea</c:v>
              </c:pt>
              <c:pt idx="7">
                <c:v>Branded</c:v>
              </c:pt>
              <c:pt idx="8">
                <c:v>Packaged Chocolate</c:v>
              </c:pt>
            </c:strLit>
          </c:cat>
          <c:val>
            <c:numLit>
              <c:formatCode>General</c:formatCode>
              <c:ptCount val="9"/>
              <c:pt idx="0">
                <c:v>23913</c:v>
              </c:pt>
              <c:pt idx="1">
                <c:v>18496</c:v>
              </c:pt>
              <c:pt idx="2">
                <c:v>10546</c:v>
              </c:pt>
              <c:pt idx="3">
                <c:v>4681</c:v>
              </c:pt>
              <c:pt idx="4">
                <c:v>2568</c:v>
              </c:pt>
              <c:pt idx="5">
                <c:v>1504</c:v>
              </c:pt>
              <c:pt idx="6">
                <c:v>1069</c:v>
              </c:pt>
              <c:pt idx="7">
                <c:v>573</c:v>
              </c:pt>
              <c:pt idx="8">
                <c:v>446</c:v>
              </c:pt>
            </c:numLit>
          </c:val>
          <c:extLst>
            <c:ext xmlns:c16="http://schemas.microsoft.com/office/drawing/2014/chart" uri="{C3380CC4-5D6E-409C-BE32-E72D297353CC}">
              <c16:uniqueId val="{00000000-34A0-427C-B8A7-049917055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3107952"/>
        <c:axId val="1173108432"/>
      </c:barChart>
      <c:catAx>
        <c:axId val="1173107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108432"/>
        <c:crosses val="autoZero"/>
        <c:auto val="1"/>
        <c:lblAlgn val="ctr"/>
        <c:lblOffset val="100"/>
        <c:noMultiLvlLbl val="0"/>
      </c:catAx>
      <c:valAx>
        <c:axId val="1173108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107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="1"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[NO1111.xlsx]Dashboard !PivotTable6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accent1">
                    <a:lumMod val="60000"/>
                    <a:lumOff val="40000"/>
                  </a:schemeClr>
                </a:solidFill>
              </a:rPr>
              <a:t>Total Revenue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'Dashboard '!$B$8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'Dashboard '!$A$9:$A$15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'Dashboard '!$B$9:$B$15</c:f>
              <c:numCache>
                <c:formatCode>[$R-1C09]#,##0</c:formatCode>
                <c:ptCount val="6"/>
                <c:pt idx="0">
                  <c:v>81677.739999999612</c:v>
                </c:pt>
                <c:pt idx="1">
                  <c:v>76145.189999999682</c:v>
                </c:pt>
                <c:pt idx="2">
                  <c:v>98834.68</c:v>
                </c:pt>
                <c:pt idx="3">
                  <c:v>118941.07999999978</c:v>
                </c:pt>
                <c:pt idx="4">
                  <c:v>156727.76000000033</c:v>
                </c:pt>
                <c:pt idx="5">
                  <c:v>166485.8800000003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6A-463F-BC4F-E67D592C3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73099792"/>
        <c:axId val="1173101712"/>
      </c:lineChart>
      <c:catAx>
        <c:axId val="117309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101712"/>
        <c:crosses val="autoZero"/>
        <c:auto val="1"/>
        <c:lblAlgn val="ctr"/>
        <c:lblOffset val="100"/>
        <c:noMultiLvlLbl val="0"/>
      </c:catAx>
      <c:valAx>
        <c:axId val="117310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[$R-1C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09979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[NO1111.xlsx]Dashboard !PivotTable4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accent4"/>
                </a:solidFill>
              </a:rPr>
              <a:t>Transactions By day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</c:marker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'Dashboard '!$B$114:$B$115</c:f>
              <c:strCache>
                <c:ptCount val="1"/>
                <c:pt idx="0">
                  <c:v>Astoria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'!$A$116:$A$123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'Dashboard '!$B$116:$B$123</c:f>
              <c:numCache>
                <c:formatCode>#,##0</c:formatCode>
                <c:ptCount val="7"/>
                <c:pt idx="0">
                  <c:v>3098</c:v>
                </c:pt>
                <c:pt idx="1">
                  <c:v>3043</c:v>
                </c:pt>
                <c:pt idx="2">
                  <c:v>3149</c:v>
                </c:pt>
                <c:pt idx="3">
                  <c:v>3133</c:v>
                </c:pt>
                <c:pt idx="4">
                  <c:v>3080</c:v>
                </c:pt>
                <c:pt idx="5">
                  <c:v>2965</c:v>
                </c:pt>
                <c:pt idx="6">
                  <c:v>3089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D7-4CD9-89B4-26B49769247F}"/>
            </c:ext>
          </c:extLst>
        </c:ser>
        <c:ser>
          <c:idx val="1"/>
          <c:order val="1"/>
          <c:tx>
            <c:strRef>
              <c:f>'Dashboard '!$C$114:$C$115</c:f>
              <c:strCache>
                <c:ptCount val="1"/>
                <c:pt idx="0">
                  <c:v>Hell's Kitchen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'!$A$116:$A$123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'Dashboard '!$C$116:$C$123</c:f>
              <c:numCache>
                <c:formatCode>#,##0</c:formatCode>
                <c:ptCount val="7"/>
                <c:pt idx="0">
                  <c:v>3083</c:v>
                </c:pt>
                <c:pt idx="1">
                  <c:v>3179</c:v>
                </c:pt>
                <c:pt idx="2">
                  <c:v>3165</c:v>
                </c:pt>
                <c:pt idx="3">
                  <c:v>3146</c:v>
                </c:pt>
                <c:pt idx="4">
                  <c:v>3162</c:v>
                </c:pt>
                <c:pt idx="5">
                  <c:v>3038</c:v>
                </c:pt>
                <c:pt idx="6">
                  <c:v>3159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D7-4CD9-89B4-26B49769247F}"/>
            </c:ext>
          </c:extLst>
        </c:ser>
        <c:ser>
          <c:idx val="2"/>
          <c:order val="2"/>
          <c:tx>
            <c:strRef>
              <c:f>'Dashboard '!$D$114:$D$115</c:f>
              <c:strCache>
                <c:ptCount val="1"/>
                <c:pt idx="0">
                  <c:v>Lower Manhattan</c:v>
                </c:pt>
              </c:strCache>
            </c:strRef>
          </c:tx>
          <c:spPr>
            <a:gradFill>
              <a:gsLst>
                <a:gs pos="0">
                  <a:schemeClr val="accent3"/>
                </a:gs>
                <a:gs pos="100000">
                  <a:schemeClr val="accent3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'!$A$116:$A$123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'Dashboard '!$D$116:$D$123</c:f>
              <c:numCache>
                <c:formatCode>#,##0</c:formatCode>
                <c:ptCount val="7"/>
                <c:pt idx="0">
                  <c:v>3003</c:v>
                </c:pt>
                <c:pt idx="1">
                  <c:v>2813</c:v>
                </c:pt>
                <c:pt idx="2">
                  <c:v>2908</c:v>
                </c:pt>
                <c:pt idx="3">
                  <c:v>2959</c:v>
                </c:pt>
                <c:pt idx="4">
                  <c:v>2914</c:v>
                </c:pt>
                <c:pt idx="5">
                  <c:v>2828</c:v>
                </c:pt>
                <c:pt idx="6">
                  <c:v>2882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D7-4CD9-89B4-26B49769247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5828655"/>
        <c:axId val="105827695"/>
      </c:barChart>
      <c:catAx>
        <c:axId val="10582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827695"/>
        <c:crosses val="autoZero"/>
        <c:auto val="1"/>
        <c:lblAlgn val="ctr"/>
        <c:lblOffset val="100"/>
        <c:noMultiLvlLbl val="0"/>
      </c:catAx>
      <c:valAx>
        <c:axId val="105827695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05828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0.42351</cdr:x>
      <cdr:y>0.0464</cdr:y>
    </cdr:from>
    <cdr:to>
      <cdr:x>0.91989</cdr:x>
      <cdr:y>0.11369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619583A-D4F0-E5D4-0BDD-CFF3F64346C6}"/>
            </a:ext>
          </a:extLst>
        </cdr:cNvPr>
        <cdr:cNvSpPr txBox="1"/>
      </cdr:nvSpPr>
      <cdr:spPr>
        <a:xfrm xmlns:a="http://schemas.openxmlformats.org/drawingml/2006/main">
          <a:off x="3071814" y="190501"/>
          <a:ext cx="3600450" cy="27622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b="1" kern="1200">
              <a:solidFill>
                <a:schemeClr val="accent4"/>
              </a:solidFill>
            </a:rPr>
            <a:t>Revenue</a:t>
          </a:r>
          <a:r>
            <a:rPr lang="en-US" sz="1600" b="1" kern="1200" baseline="0">
              <a:solidFill>
                <a:schemeClr val="accent4"/>
              </a:solidFill>
            </a:rPr>
            <a:t> By time_Classification per Store</a:t>
          </a:r>
          <a:endParaRPr lang="en-US" sz="1600" b="1" kern="1200">
            <a:solidFill>
              <a:schemeClr val="accent4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8E1B-8085-4FC2-B2A2-94B4ECCD352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AB3B4-C75E-4232-899C-F3BC03EF8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1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AC7AE2A-4DC6-9E9D-2ED3-0B1E0366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773" y="2250151"/>
            <a:ext cx="8701426" cy="1288579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30E17AD-1C5B-EF09-0BF8-CBC340F54C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2777" y="795528"/>
            <a:ext cx="8701424" cy="769088"/>
          </a:xfr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defRPr sz="2400" b="1" cap="all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  <a:lvl5pPr>
              <a:lnSpc>
                <a:spcPct val="8000"/>
              </a:lnSpc>
              <a:defRPr sz="2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8ACA24F-3DD7-0A70-0931-DE3D0FBC3F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2777" y="1664211"/>
            <a:ext cx="8701424" cy="431971"/>
          </a:xfrm>
        </p:spPr>
        <p:txBody>
          <a:bodyPr anchor="b" anchorCtr="0">
            <a:no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D8A43E4-E962-3007-E16D-370589E66B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2776" y="3584450"/>
            <a:ext cx="8701426" cy="850659"/>
          </a:xfrm>
        </p:spPr>
        <p:txBody>
          <a:bodyPr>
            <a:norm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DFC7DBE-8C6E-35B5-1E1A-00AE1F172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387" y="5120643"/>
            <a:ext cx="5443298" cy="381001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4500">
                <a:latin typeface="Freestyle Script" panose="030804020302050B0404" pitchFamily="66" charset="7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2777466-3B6D-8F52-D660-BA872CF2E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8385" y="5559552"/>
            <a:ext cx="5443297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94D72B9-5837-76E4-D659-2427AB3B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9646" y="6053328"/>
            <a:ext cx="3807694" cy="384048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140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712CA7E-8AC8-D8C6-E863-EF8A2D221E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9645" y="6483096"/>
            <a:ext cx="3807694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632202389">
            <a:extLst>
              <a:ext uri="{FF2B5EF4-FFF2-40B4-BE49-F238E27FC236}">
                <a16:creationId xmlns:a16="http://schemas.microsoft.com/office/drawing/2014/main" id="{093D2D2E-70E8-BD70-D06C-853982491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1817" b="-980"/>
          <a:stretch/>
        </p:blipFill>
        <p:spPr>
          <a:xfrm>
            <a:off x="0" y="2"/>
            <a:ext cx="9996824" cy="7848597"/>
          </a:xfrm>
          <a:custGeom>
            <a:avLst/>
            <a:gdLst>
              <a:gd name="connsiteX0" fmla="*/ 0 w 7277100"/>
              <a:gd name="connsiteY0" fmla="*/ 0 h 7772399"/>
              <a:gd name="connsiteX1" fmla="*/ 7277100 w 7277100"/>
              <a:gd name="connsiteY1" fmla="*/ 0 h 7772399"/>
              <a:gd name="connsiteX2" fmla="*/ 7277100 w 7277100"/>
              <a:gd name="connsiteY2" fmla="*/ 1 h 7772399"/>
              <a:gd name="connsiteX3" fmla="*/ 2672515 w 7277100"/>
              <a:gd name="connsiteY3" fmla="*/ 1 h 7772399"/>
              <a:gd name="connsiteX4" fmla="*/ 2672515 w 7277100"/>
              <a:gd name="connsiteY4" fmla="*/ 4079459 h 7772399"/>
              <a:gd name="connsiteX5" fmla="*/ 6175419 w 7277100"/>
              <a:gd name="connsiteY5" fmla="*/ 7767597 h 7772399"/>
              <a:gd name="connsiteX6" fmla="*/ 6365357 w 7277100"/>
              <a:gd name="connsiteY6" fmla="*/ 7772399 h 7772399"/>
              <a:gd name="connsiteX7" fmla="*/ 0 w 7277100"/>
              <a:gd name="connsiteY7" fmla="*/ 7772399 h 777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7100" h="7772399">
                <a:moveTo>
                  <a:pt x="0" y="0"/>
                </a:moveTo>
                <a:lnTo>
                  <a:pt x="7277100" y="0"/>
                </a:lnTo>
                <a:lnTo>
                  <a:pt x="7277100" y="1"/>
                </a:lnTo>
                <a:lnTo>
                  <a:pt x="2672515" y="1"/>
                </a:lnTo>
                <a:lnTo>
                  <a:pt x="2672515" y="4079459"/>
                </a:lnTo>
                <a:cubicBezTo>
                  <a:pt x="2672515" y="6055279"/>
                  <a:pt x="4224180" y="7668688"/>
                  <a:pt x="6175419" y="7767597"/>
                </a:cubicBezTo>
                <a:lnTo>
                  <a:pt x="6365357" y="7772399"/>
                </a:lnTo>
                <a:lnTo>
                  <a:pt x="0" y="7772399"/>
                </a:ln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8F153-80F7-9028-3F2F-0073AE1E05AA}"/>
              </a:ext>
            </a:extLst>
          </p:cNvPr>
          <p:cNvCxnSpPr>
            <a:cxnSpLocks/>
          </p:cNvCxnSpPr>
          <p:nvPr userDrawn="1"/>
        </p:nvCxnSpPr>
        <p:spPr>
          <a:xfrm>
            <a:off x="6228385" y="5527289"/>
            <a:ext cx="544329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EE5114-6F5A-84D4-F15A-1E69C0DF0F23}"/>
              </a:ext>
            </a:extLst>
          </p:cNvPr>
          <p:cNvCxnSpPr>
            <a:cxnSpLocks/>
          </p:cNvCxnSpPr>
          <p:nvPr userDrawn="1"/>
        </p:nvCxnSpPr>
        <p:spPr>
          <a:xfrm>
            <a:off x="7039645" y="6459008"/>
            <a:ext cx="38076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294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AC7AE2A-4DC6-9E9D-2ED3-0B1E0366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773" y="2250151"/>
            <a:ext cx="8701426" cy="1288579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30E17AD-1C5B-EF09-0BF8-CBC340F54C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2777" y="795528"/>
            <a:ext cx="8701424" cy="769088"/>
          </a:xfr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defRPr sz="2400" b="1" cap="all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  <a:lvl5pPr>
              <a:lnSpc>
                <a:spcPct val="8000"/>
              </a:lnSpc>
              <a:defRPr sz="2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8ACA24F-3DD7-0A70-0931-DE3D0FBC3F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2777" y="1664211"/>
            <a:ext cx="8701424" cy="431971"/>
          </a:xfrm>
        </p:spPr>
        <p:txBody>
          <a:bodyPr anchor="b" anchorCtr="0">
            <a:no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D8A43E4-E962-3007-E16D-370589E66B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2776" y="3584450"/>
            <a:ext cx="8701426" cy="850659"/>
          </a:xfrm>
        </p:spPr>
        <p:txBody>
          <a:bodyPr>
            <a:norm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DFC7DBE-8C6E-35B5-1E1A-00AE1F172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387" y="5120643"/>
            <a:ext cx="5443298" cy="381001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4500">
                <a:latin typeface="Freestyle Script" panose="030804020302050B0404" pitchFamily="66" charset="7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2777466-3B6D-8F52-D660-BA872CF2E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8385" y="5559552"/>
            <a:ext cx="5443297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94D72B9-5837-76E4-D659-2427AB3B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9646" y="6053328"/>
            <a:ext cx="3807694" cy="384048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140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712CA7E-8AC8-D8C6-E863-EF8A2D221E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9645" y="6483096"/>
            <a:ext cx="3807694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632202389">
            <a:extLst>
              <a:ext uri="{FF2B5EF4-FFF2-40B4-BE49-F238E27FC236}">
                <a16:creationId xmlns:a16="http://schemas.microsoft.com/office/drawing/2014/main" id="{093D2D2E-70E8-BD70-D06C-853982491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1817" b="-980"/>
          <a:stretch/>
        </p:blipFill>
        <p:spPr>
          <a:xfrm>
            <a:off x="0" y="2"/>
            <a:ext cx="9996824" cy="7848597"/>
          </a:xfrm>
          <a:custGeom>
            <a:avLst/>
            <a:gdLst>
              <a:gd name="connsiteX0" fmla="*/ 0 w 7277100"/>
              <a:gd name="connsiteY0" fmla="*/ 0 h 7772399"/>
              <a:gd name="connsiteX1" fmla="*/ 7277100 w 7277100"/>
              <a:gd name="connsiteY1" fmla="*/ 0 h 7772399"/>
              <a:gd name="connsiteX2" fmla="*/ 7277100 w 7277100"/>
              <a:gd name="connsiteY2" fmla="*/ 1 h 7772399"/>
              <a:gd name="connsiteX3" fmla="*/ 2672515 w 7277100"/>
              <a:gd name="connsiteY3" fmla="*/ 1 h 7772399"/>
              <a:gd name="connsiteX4" fmla="*/ 2672515 w 7277100"/>
              <a:gd name="connsiteY4" fmla="*/ 4079459 h 7772399"/>
              <a:gd name="connsiteX5" fmla="*/ 6175419 w 7277100"/>
              <a:gd name="connsiteY5" fmla="*/ 7767597 h 7772399"/>
              <a:gd name="connsiteX6" fmla="*/ 6365357 w 7277100"/>
              <a:gd name="connsiteY6" fmla="*/ 7772399 h 7772399"/>
              <a:gd name="connsiteX7" fmla="*/ 0 w 7277100"/>
              <a:gd name="connsiteY7" fmla="*/ 7772399 h 777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7100" h="7772399">
                <a:moveTo>
                  <a:pt x="0" y="0"/>
                </a:moveTo>
                <a:lnTo>
                  <a:pt x="7277100" y="0"/>
                </a:lnTo>
                <a:lnTo>
                  <a:pt x="7277100" y="1"/>
                </a:lnTo>
                <a:lnTo>
                  <a:pt x="2672515" y="1"/>
                </a:lnTo>
                <a:lnTo>
                  <a:pt x="2672515" y="4079459"/>
                </a:lnTo>
                <a:cubicBezTo>
                  <a:pt x="2672515" y="6055279"/>
                  <a:pt x="4224180" y="7668688"/>
                  <a:pt x="6175419" y="7767597"/>
                </a:cubicBezTo>
                <a:lnTo>
                  <a:pt x="6365357" y="7772399"/>
                </a:lnTo>
                <a:lnTo>
                  <a:pt x="0" y="7772399"/>
                </a:ln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8F153-80F7-9028-3F2F-0073AE1E05AA}"/>
              </a:ext>
            </a:extLst>
          </p:cNvPr>
          <p:cNvCxnSpPr>
            <a:cxnSpLocks/>
          </p:cNvCxnSpPr>
          <p:nvPr userDrawn="1"/>
        </p:nvCxnSpPr>
        <p:spPr>
          <a:xfrm>
            <a:off x="6228385" y="5527289"/>
            <a:ext cx="544329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EE5114-6F5A-84D4-F15A-1E69C0DF0F23}"/>
              </a:ext>
            </a:extLst>
          </p:cNvPr>
          <p:cNvCxnSpPr>
            <a:cxnSpLocks/>
          </p:cNvCxnSpPr>
          <p:nvPr userDrawn="1"/>
        </p:nvCxnSpPr>
        <p:spPr>
          <a:xfrm>
            <a:off x="7039645" y="6459008"/>
            <a:ext cx="38076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50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3A54-B286-3628-C603-180A56B55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F5040-DF80-7352-03F5-C65D7EB15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B188-D21E-C6D1-F76C-921AC315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C83CB-31B5-0947-5472-D14746E1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9DD82-2011-DD95-EE5D-18CA7291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53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26ED-60C0-65D6-AD67-60848075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C794-698F-8EB7-613F-9F081D146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F15F-11CB-0179-EF5D-5C5A1626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8D29-1ECB-41DF-951B-2A23F95AD02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856FC-5F63-4ED2-D368-1F842BFE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0C6DB-A7ED-738B-F531-6BE51E22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3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92CE-B899-257A-F32E-CB07214D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74972-965D-FAB5-FD7A-300AE1DC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82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82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65F40-9910-E162-CA0E-531ED5D4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A5BF-1C20-B741-4095-BEA205E9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F1090-4C51-A3C0-F83E-9F781C5A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44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2444-A6EA-E975-BB1E-BD005BB00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BB47-9AD3-37BE-DA36-D7E3B190D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9960" y="2069042"/>
            <a:ext cx="587248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2FEE1-982D-B7A9-E505-956BC825A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5160" y="2069042"/>
            <a:ext cx="587248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41D42-73EA-E6B6-4313-D1DE99B6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D3D8C-9341-40F6-B747-5A01F9C1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03E80-DC61-15D8-3B7C-5B8FBBFC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73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39C6-CB82-4447-5D2F-144DA1ED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60" y="413809"/>
            <a:ext cx="1191768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E0818-3E6D-09E4-7A66-0515BF62A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760" y="1905318"/>
            <a:ext cx="584549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385E6-F17F-1FBD-29C0-A99CDFC3C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1760" y="2839085"/>
            <a:ext cx="584549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76E5B-1684-7B05-5D39-326C8F34E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95160" y="1905318"/>
            <a:ext cx="587428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FEAD48-BFF7-3261-611D-8D399DE26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5160" y="2839085"/>
            <a:ext cx="587428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D02681-26E5-61E0-0ADF-54653859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627A7-F74C-C8E8-3E9A-BE74ED40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EBDF4-E67C-F3B6-7E55-0DC806EB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40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564A-6EE0-EBAF-356F-8BE3E2C4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80F5F-CB3C-0DB0-E148-FC0D5C1B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CF813-CAEA-A295-4170-F7A743E4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1A476-75B1-6098-D0B6-D3AB7424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58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AAD7E-49E2-6984-40BC-52740E5C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AB859-6B91-70D9-ED4C-4DC00C34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163E7-0B93-717C-EBCF-E5867078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2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37A4-D61C-C71E-EADE-FE5E659E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5562A-D109-B095-6F5E-3C5EB2D20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911BD-1ADC-7B78-A02A-75B2ED635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DB0D-D3D8-503C-EE40-8368463F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E7ED8-72AC-A46D-CCEC-BA2E0CBC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2860-FF0B-17CA-B0E2-7F87C442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76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0D4F-AA01-C55A-6B51-0BF7DCF6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56F1A-2A6E-AAAF-F765-82323CCD8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3A5C6-0121-0FE7-0C36-03F73E8F3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B7F47-3D2B-E3AB-DF91-2932F68B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4F73D-5218-701F-4F80-728B1A3F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6A9FA-C35E-4D03-E4CE-995F866F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708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B65A-0322-20A3-AC67-4B8B888E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32F27-CBC9-D86F-15E8-29FA6FDDA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CEA78-FFE0-4F63-0ECF-D132E7C1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357AD-A48A-9CF3-7CC8-A8179495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9513-6A77-76B1-EA72-B5B4B26A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83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293B3-A75F-EDB8-AC78-2C646D9DC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88220" y="413808"/>
            <a:ext cx="2979420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3327D-1BA2-ED35-841D-267673AD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0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3BBBB-F587-BE3E-10D6-26DDC4FD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71C04-4C3F-CA00-A5C0-5168EAAD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D00E-E364-3E7D-806A-3947F26F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145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AC7AE2A-4DC6-9E9D-2ED3-0B1E0366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773" y="2250151"/>
            <a:ext cx="8701426" cy="1288579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30E17AD-1C5B-EF09-0BF8-CBC340F54C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2777" y="795528"/>
            <a:ext cx="8701424" cy="769088"/>
          </a:xfr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defRPr sz="2400" b="1" cap="all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  <a:lvl5pPr>
              <a:lnSpc>
                <a:spcPct val="8000"/>
              </a:lnSpc>
              <a:defRPr sz="2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8ACA24F-3DD7-0A70-0931-DE3D0FBC3F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2777" y="1664211"/>
            <a:ext cx="8701424" cy="431971"/>
          </a:xfrm>
        </p:spPr>
        <p:txBody>
          <a:bodyPr anchor="b" anchorCtr="0">
            <a:no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D8A43E4-E962-3007-E16D-370589E66B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2776" y="3584450"/>
            <a:ext cx="8701426" cy="850659"/>
          </a:xfrm>
        </p:spPr>
        <p:txBody>
          <a:bodyPr>
            <a:norm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DFC7DBE-8C6E-35B5-1E1A-00AE1F172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8387" y="5120643"/>
            <a:ext cx="5443298" cy="381001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4500">
                <a:latin typeface="Freestyle Script" panose="030804020302050B0404" pitchFamily="66" charset="7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2777466-3B6D-8F52-D660-BA872CF2E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8385" y="5559552"/>
            <a:ext cx="5443297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94D72B9-5837-76E4-D659-2427AB3B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9646" y="6053328"/>
            <a:ext cx="3807694" cy="384048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140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712CA7E-8AC8-D8C6-E863-EF8A2D221E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9645" y="6483096"/>
            <a:ext cx="3807694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632202389">
            <a:extLst>
              <a:ext uri="{FF2B5EF4-FFF2-40B4-BE49-F238E27FC236}">
                <a16:creationId xmlns:a16="http://schemas.microsoft.com/office/drawing/2014/main" id="{093D2D2E-70E8-BD70-D06C-853982491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1817" b="-980"/>
          <a:stretch/>
        </p:blipFill>
        <p:spPr>
          <a:xfrm>
            <a:off x="0" y="2"/>
            <a:ext cx="9996824" cy="7848597"/>
          </a:xfrm>
          <a:custGeom>
            <a:avLst/>
            <a:gdLst>
              <a:gd name="connsiteX0" fmla="*/ 0 w 7277100"/>
              <a:gd name="connsiteY0" fmla="*/ 0 h 7772399"/>
              <a:gd name="connsiteX1" fmla="*/ 7277100 w 7277100"/>
              <a:gd name="connsiteY1" fmla="*/ 0 h 7772399"/>
              <a:gd name="connsiteX2" fmla="*/ 7277100 w 7277100"/>
              <a:gd name="connsiteY2" fmla="*/ 1 h 7772399"/>
              <a:gd name="connsiteX3" fmla="*/ 2672515 w 7277100"/>
              <a:gd name="connsiteY3" fmla="*/ 1 h 7772399"/>
              <a:gd name="connsiteX4" fmla="*/ 2672515 w 7277100"/>
              <a:gd name="connsiteY4" fmla="*/ 4079459 h 7772399"/>
              <a:gd name="connsiteX5" fmla="*/ 6175419 w 7277100"/>
              <a:gd name="connsiteY5" fmla="*/ 7767597 h 7772399"/>
              <a:gd name="connsiteX6" fmla="*/ 6365357 w 7277100"/>
              <a:gd name="connsiteY6" fmla="*/ 7772399 h 7772399"/>
              <a:gd name="connsiteX7" fmla="*/ 0 w 7277100"/>
              <a:gd name="connsiteY7" fmla="*/ 7772399 h 777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7100" h="7772399">
                <a:moveTo>
                  <a:pt x="0" y="0"/>
                </a:moveTo>
                <a:lnTo>
                  <a:pt x="7277100" y="0"/>
                </a:lnTo>
                <a:lnTo>
                  <a:pt x="7277100" y="1"/>
                </a:lnTo>
                <a:lnTo>
                  <a:pt x="2672515" y="1"/>
                </a:lnTo>
                <a:lnTo>
                  <a:pt x="2672515" y="4079459"/>
                </a:lnTo>
                <a:cubicBezTo>
                  <a:pt x="2672515" y="6055279"/>
                  <a:pt x="4224180" y="7668688"/>
                  <a:pt x="6175419" y="7767597"/>
                </a:cubicBezTo>
                <a:lnTo>
                  <a:pt x="6365357" y="7772399"/>
                </a:lnTo>
                <a:lnTo>
                  <a:pt x="0" y="7772399"/>
                </a:ln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8F153-80F7-9028-3F2F-0073AE1E05AA}"/>
              </a:ext>
            </a:extLst>
          </p:cNvPr>
          <p:cNvCxnSpPr>
            <a:cxnSpLocks/>
          </p:cNvCxnSpPr>
          <p:nvPr userDrawn="1"/>
        </p:nvCxnSpPr>
        <p:spPr>
          <a:xfrm>
            <a:off x="6228385" y="5527289"/>
            <a:ext cx="544329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EE5114-6F5A-84D4-F15A-1E69C0DF0F23}"/>
              </a:ext>
            </a:extLst>
          </p:cNvPr>
          <p:cNvCxnSpPr>
            <a:cxnSpLocks/>
          </p:cNvCxnSpPr>
          <p:nvPr userDrawn="1"/>
        </p:nvCxnSpPr>
        <p:spPr>
          <a:xfrm>
            <a:off x="7039645" y="6459008"/>
            <a:ext cx="38076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878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9960" y="413813"/>
            <a:ext cx="11917680" cy="15023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942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92" r:id="rId2"/>
  </p:sldLayoutIdLst>
  <p:txStyles>
    <p:titleStyle>
      <a:lvl1pPr algn="ctr" defTabSz="1005755" rtl="0" eaLnBrk="1" latinLnBrk="0" hangingPunct="1">
        <a:lnSpc>
          <a:spcPct val="85000"/>
        </a:lnSpc>
        <a:spcBef>
          <a:spcPct val="0"/>
        </a:spcBef>
        <a:buNone/>
        <a:defRPr sz="45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1005755" rtl="0" eaLnBrk="1" latinLnBrk="0" hangingPunct="1">
        <a:lnSpc>
          <a:spcPct val="103000"/>
        </a:lnSpc>
        <a:spcBef>
          <a:spcPts val="0"/>
        </a:spcBef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indent="0" algn="ctr" defTabSz="1005755" rtl="0" eaLnBrk="1" latinLnBrk="0" hangingPunct="1">
        <a:lnSpc>
          <a:spcPct val="90000"/>
        </a:lnSpc>
        <a:spcBef>
          <a:spcPts val="550"/>
        </a:spcBef>
        <a:buFontTx/>
        <a:buNone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indent="0" algn="ctr" defTabSz="1005755" rtl="0" eaLnBrk="1" latinLnBrk="0" hangingPunct="1">
        <a:lnSpc>
          <a:spcPct val="90000"/>
        </a:lnSpc>
        <a:spcBef>
          <a:spcPts val="550"/>
        </a:spcBef>
        <a:buFontTx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indent="0" algn="ctr" defTabSz="1005755" rtl="0" eaLnBrk="1" latinLnBrk="0" hangingPunct="1">
        <a:lnSpc>
          <a:spcPct val="90000"/>
        </a:lnSpc>
        <a:spcBef>
          <a:spcPts val="550"/>
        </a:spcBef>
        <a:buFontTx/>
        <a:buNone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indent="0" algn="ctr" defTabSz="1005755" rtl="0" eaLnBrk="1" latinLnBrk="0" hangingPunct="1">
        <a:lnSpc>
          <a:spcPct val="90000"/>
        </a:lnSpc>
        <a:spcBef>
          <a:spcPts val="550"/>
        </a:spcBef>
        <a:buFontTx/>
        <a:buNone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8" userDrawn="1">
          <p15:clr>
            <a:srgbClr val="F26B43"/>
          </p15:clr>
        </p15:guide>
        <p15:guide id="2" pos="435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F7DD1-34AD-DEE3-BF46-B3874E3C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5DC27-4F2E-3958-7E6B-4D788512F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00680-0227-10DF-6F3D-C39E30B66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77A91-8C1D-4715-A3F3-F7999373FDE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0794-4E28-E651-D100-C322EA1FC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FC6D5-19B0-3669-5C30-1891B5C8B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12BF6-97F1-4198-9224-3A9445BC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0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8">
          <p15:clr>
            <a:srgbClr val="F26B43"/>
          </p15:clr>
        </p15:guide>
        <p15:guide id="2" pos="43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97E6FBEE-EB32-96C5-FC50-C4822301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104" y="2186143"/>
            <a:ext cx="8701426" cy="1288579"/>
          </a:xfrm>
        </p:spPr>
        <p:txBody>
          <a:bodyPr>
            <a:normAutofit/>
          </a:bodyPr>
          <a:lstStyle/>
          <a:p>
            <a:r>
              <a:rPr lang="en-US" sz="3600" dirty="0"/>
              <a:t>A Sales</a:t>
            </a:r>
            <a:br>
              <a:rPr lang="en-US" sz="3600" dirty="0"/>
            </a:br>
            <a:r>
              <a:rPr lang="en-US" sz="3600" dirty="0"/>
              <a:t>Performance Review- 1Jan - Jun 2023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1ABBB8-E1DD-6AF0-8A38-9ADF54CE25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92773" y="484094"/>
            <a:ext cx="8553072" cy="1420010"/>
          </a:xfrm>
        </p:spPr>
        <p:txBody>
          <a:bodyPr/>
          <a:lstStyle/>
          <a:p>
            <a:pPr marL="0" indent="0">
              <a:buNone/>
            </a:pPr>
            <a:r>
              <a:rPr lang="en-US" sz="6000" dirty="0"/>
              <a:t>BRIGHT Coffee Shop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4220D8-74A4-2256-78D9-E6F21E0A9A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By  </a:t>
            </a:r>
            <a:r>
              <a:rPr lang="en-US" dirty="0"/>
              <a:t>Dagada Rofhiwa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675DA1-AD25-33BC-569B-53E2A17E38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Presenter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3317FB-6D88-3E93-FA34-836D1C2CC8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March 31,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30993F-52B0-59C9-C18B-AB4AD0CA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4" y="3228414"/>
            <a:ext cx="2152891" cy="178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5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E0A6-98B4-CAC0-2726-70790278B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431" y="75304"/>
            <a:ext cx="12242202" cy="7164592"/>
          </a:xfrm>
        </p:spPr>
        <p:txBody>
          <a:bodyPr>
            <a:noAutofit/>
          </a:bodyPr>
          <a:lstStyle/>
          <a:p>
            <a:br>
              <a:rPr lang="en-US" sz="2800" b="1" dirty="0"/>
            </a:br>
            <a:r>
              <a:rPr lang="en-US" sz="2800" b="1" dirty="0"/>
              <a:t>AGENDA</a:t>
            </a:r>
            <a:br>
              <a:rPr lang="en-US" sz="2800" dirty="0"/>
            </a:br>
            <a:r>
              <a:rPr lang="en-US" sz="2800" b="1" dirty="0"/>
              <a:t>Executive Summary: Igniting Revenue Growth &amp; Product excellence</a:t>
            </a:r>
            <a:br>
              <a:rPr lang="en-US" sz="2800" b="1" dirty="0"/>
            </a:br>
            <a:br>
              <a:rPr lang="en-US" sz="2800" dirty="0"/>
            </a:br>
            <a:r>
              <a:rPr lang="en-US" sz="2800" dirty="0"/>
              <a:t>This comprehensive sales analysis (Jan-Jun 2023) Highlights bright coffee shop robust growth trends and strategic opportunities. key insights identify</a:t>
            </a:r>
            <a:br>
              <a:rPr lang="en-US" sz="2800" dirty="0"/>
            </a:br>
            <a:r>
              <a:rPr lang="en-US" sz="2800" dirty="0"/>
              <a:t>morning (06:00-11:59) sales as a major contributor generating 55.6% of total revenue with </a:t>
            </a:r>
            <a:r>
              <a:rPr lang="en-US" sz="2800" b="1" dirty="0"/>
              <a:t>54.8% of customer volume, </a:t>
            </a:r>
            <a:r>
              <a:rPr lang="en-US" sz="2800" dirty="0"/>
              <a:t>Coffee and tea as leading products</a:t>
            </a:r>
            <a:br>
              <a:rPr lang="en-US" sz="2800" dirty="0"/>
            </a:br>
            <a:r>
              <a:rPr lang="en-US" sz="2800" dirty="0"/>
              <a:t>collectively contributing </a:t>
            </a:r>
            <a:r>
              <a:rPr lang="en-US" sz="2800" b="1" dirty="0"/>
              <a:t>66.6% of total revenue</a:t>
            </a:r>
            <a:r>
              <a:rPr lang="en-US" sz="2800" dirty="0"/>
              <a:t>, outline clear pathways to accelerate growth and enhance profitability.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            ⚙️ PROJECT CONTEXT </a:t>
            </a:r>
            <a:br>
              <a:rPr lang="en-US" sz="2800" dirty="0"/>
            </a:br>
            <a:r>
              <a:rPr lang="en-US" sz="2800" dirty="0"/>
              <a:t>        📈 SALES TRENDS</a:t>
            </a:r>
            <a:br>
              <a:rPr lang="en-US" sz="2800" dirty="0"/>
            </a:br>
            <a:r>
              <a:rPr lang="en-US" sz="2800" dirty="0"/>
              <a:t>💡 ANALYSIS </a:t>
            </a:r>
            <a:br>
              <a:rPr lang="en-US" sz="2800" dirty="0"/>
            </a:br>
            <a:r>
              <a:rPr lang="en-US" sz="2800" dirty="0"/>
              <a:t>                   🎯 RECOMMENDATION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886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4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351B0-70F4-1BAC-EE96-E8EFAF1F98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139" y="112332"/>
            <a:ext cx="9425321" cy="1099335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</a:rPr>
              <a:t>Revenue Per Store  Location By Time 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276E4-994D-B804-68F7-010ECABE2506}"/>
              </a:ext>
            </a:extLst>
          </p:cNvPr>
          <p:cNvSpPr txBox="1"/>
          <p:nvPr/>
        </p:nvSpPr>
        <p:spPr>
          <a:xfrm>
            <a:off x="821361" y="5888090"/>
            <a:ext cx="9238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Sales show a strong upward trend in the morning </a:t>
            </a:r>
            <a:r>
              <a:rPr lang="en-US" b="1" dirty="0"/>
              <a:t> </a:t>
            </a:r>
            <a:r>
              <a:rPr lang="en-US" dirty="0"/>
              <a:t>our</a:t>
            </a:r>
            <a:r>
              <a:rPr lang="en-US" b="1" dirty="0"/>
              <a:t>  </a:t>
            </a:r>
            <a:r>
              <a:rPr lang="en-US" dirty="0"/>
              <a:t>top-performing  store </a:t>
            </a:r>
            <a:r>
              <a:rPr lang="en-US" b="1" dirty="0"/>
              <a:t>Lower</a:t>
            </a:r>
            <a:r>
              <a:rPr lang="en-US" dirty="0"/>
              <a:t> </a:t>
            </a:r>
            <a:r>
              <a:rPr lang="en-US" b="1" dirty="0"/>
              <a:t>Manhattan</a:t>
            </a:r>
            <a:r>
              <a:rPr lang="en-US" dirty="0"/>
              <a:t> with </a:t>
            </a:r>
            <a:r>
              <a:rPr lang="en-US" b="1" dirty="0"/>
              <a:t>20.59% revenue</a:t>
            </a:r>
            <a:r>
              <a:rPr lang="en-US" dirty="0"/>
              <a:t>, followed closely by Hell’s Kitchen  with </a:t>
            </a:r>
            <a:r>
              <a:rPr lang="en-US" b="1" dirty="0"/>
              <a:t>19.5% revenue</a:t>
            </a:r>
          </a:p>
          <a:p>
            <a:r>
              <a:rPr lang="en-US" dirty="0"/>
              <a:t>       And </a:t>
            </a:r>
            <a:r>
              <a:rPr lang="en-US" b="1" dirty="0"/>
              <a:t>Astoria </a:t>
            </a:r>
            <a:r>
              <a:rPr lang="en-US" dirty="0"/>
              <a:t>with</a:t>
            </a:r>
            <a:r>
              <a:rPr lang="en-US" b="1" dirty="0"/>
              <a:t> 15.02 %  revenue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Morning period delivered the strongest performance,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E7E9A66-71E9-4B30-BBA9-D063775AC3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134169"/>
              </p:ext>
            </p:extLst>
          </p:nvPr>
        </p:nvGraphicFramePr>
        <p:xfrm>
          <a:off x="1699240" y="1497241"/>
          <a:ext cx="6843714" cy="4105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5639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2E1B6-AC66-172F-7FE1-57EFE0A6B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2082" y="219575"/>
            <a:ext cx="7992434" cy="5315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Monthly Insights: Customer Behavior By Time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321353B-A087-BCFC-CD73-6949A98854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47538" y="6790784"/>
            <a:ext cx="6334125" cy="431971"/>
          </a:xfrm>
        </p:spPr>
        <p:txBody>
          <a:bodyPr/>
          <a:lstStyle/>
          <a:p>
            <a:r>
              <a:rPr lang="en-US" dirty="0"/>
              <a:t>Sales show a strong upward trend from January to June </a:t>
            </a:r>
            <a:r>
              <a:rPr lang="en-US" b="1" dirty="0"/>
              <a:t>from (12% to 24%).</a:t>
            </a:r>
          </a:p>
          <a:p>
            <a:r>
              <a:rPr lang="en-US" dirty="0"/>
              <a:t>June is our top-performing month with </a:t>
            </a:r>
            <a:r>
              <a:rPr lang="en-US" b="1" dirty="0"/>
              <a:t>24% revenue</a:t>
            </a:r>
            <a:r>
              <a:rPr lang="en-US" dirty="0"/>
              <a:t>, followed closely by May with </a:t>
            </a:r>
            <a:r>
              <a:rPr lang="en-US" b="1" dirty="0"/>
              <a:t>22% revenue.</a:t>
            </a:r>
          </a:p>
          <a:p>
            <a:r>
              <a:rPr lang="en-US" dirty="0"/>
              <a:t>Morning period delivered the strongest performance, growing from </a:t>
            </a:r>
            <a:r>
              <a:rPr lang="en-US" b="1" dirty="0"/>
              <a:t>6.55% </a:t>
            </a:r>
            <a:r>
              <a:rPr lang="en-US" dirty="0"/>
              <a:t>in January to </a:t>
            </a:r>
            <a:r>
              <a:rPr lang="en-US" b="1" dirty="0"/>
              <a:t>13.19% </a:t>
            </a:r>
            <a:r>
              <a:rPr lang="en-US" dirty="0"/>
              <a:t>in June, and generating </a:t>
            </a:r>
            <a:r>
              <a:rPr lang="en-US" b="1" dirty="0"/>
              <a:t>55.6% </a:t>
            </a:r>
            <a:r>
              <a:rPr lang="en-US" dirty="0"/>
              <a:t>of total revenue and </a:t>
            </a:r>
            <a:r>
              <a:rPr lang="en-US" b="1" dirty="0"/>
              <a:t>54.8% </a:t>
            </a:r>
            <a:r>
              <a:rPr lang="en-US" dirty="0"/>
              <a:t>of customer volume.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0AD6EF1-2CEA-77CE-40C1-956B52FDA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342722"/>
              </p:ext>
            </p:extLst>
          </p:nvPr>
        </p:nvGraphicFramePr>
        <p:xfrm>
          <a:off x="8595361" y="3965342"/>
          <a:ext cx="3840480" cy="165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376669031"/>
                    </a:ext>
                  </a:extLst>
                </a:gridCol>
                <a:gridCol w="1398493">
                  <a:extLst>
                    <a:ext uri="{9D8B030D-6E8A-4147-A177-3AD203B41FA5}">
                      <a16:colId xmlns:a16="http://schemas.microsoft.com/office/drawing/2014/main" val="77060038"/>
                    </a:ext>
                  </a:extLst>
                </a:gridCol>
                <a:gridCol w="1161827">
                  <a:extLst>
                    <a:ext uri="{9D8B030D-6E8A-4147-A177-3AD203B41FA5}">
                      <a16:colId xmlns:a16="http://schemas.microsoft.com/office/drawing/2014/main" val="1273997176"/>
                    </a:ext>
                  </a:extLst>
                </a:gridCol>
              </a:tblGrid>
              <a:tr h="449640"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Daily 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64018"/>
                  </a:ext>
                </a:extLst>
              </a:tr>
              <a:tr h="404676">
                <a:tc>
                  <a:txBody>
                    <a:bodyPr/>
                    <a:lstStyle/>
                    <a:p>
                      <a:r>
                        <a:rPr lang="en-US" sz="11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Morning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06:00:00 -11:59:59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55.56%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818554"/>
                  </a:ext>
                </a:extLst>
              </a:tr>
              <a:tr h="401542">
                <a:tc>
                  <a:txBody>
                    <a:bodyPr/>
                    <a:lstStyle/>
                    <a:p>
                      <a:r>
                        <a:rPr lang="en-US" sz="11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Afternoon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12:00:00 16:59:59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29.30%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95230"/>
                  </a:ext>
                </a:extLst>
              </a:tr>
              <a:tr h="401542">
                <a:tc>
                  <a:txBody>
                    <a:bodyPr/>
                    <a:lstStyle/>
                    <a:p>
                      <a:r>
                        <a:rPr lang="en-US" sz="11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Evening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17:00:00 - 19:59:59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15.14%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299586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E9A3B6D-C9BB-46AB-A021-74C3D2DD8A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980463"/>
              </p:ext>
            </p:extLst>
          </p:nvPr>
        </p:nvGraphicFramePr>
        <p:xfrm>
          <a:off x="1138309" y="1025918"/>
          <a:ext cx="6753225" cy="4076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9834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1545-1894-2252-2F21-9879FB6B9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5929" y="543942"/>
            <a:ext cx="8508104" cy="60691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Number of Sales By product Category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3200F-3553-F609-87A0-D66A83B0D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916" y="5757638"/>
            <a:ext cx="10638028" cy="1310982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Key Insight</a:t>
            </a:r>
            <a:endParaRPr lang="en-US" sz="2000" b="1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1" dirty="0"/>
              <a:t>Coffee </a:t>
            </a:r>
            <a:r>
              <a:rPr lang="en-US" sz="2000" dirty="0"/>
              <a:t>is the most selling product in the store with </a:t>
            </a:r>
            <a:r>
              <a:rPr lang="en-US" sz="2000" b="1" dirty="0"/>
              <a:t>23913</a:t>
            </a:r>
            <a:r>
              <a:rPr lang="en-US" sz="2000" dirty="0"/>
              <a:t> Transactions followed by </a:t>
            </a:r>
            <a:r>
              <a:rPr lang="en-US" sz="2000" b="1" dirty="0"/>
              <a:t>Tea</a:t>
            </a:r>
            <a:r>
              <a:rPr lang="en-US" sz="2000" dirty="0"/>
              <a:t> with </a:t>
            </a:r>
            <a:r>
              <a:rPr lang="en-US" sz="2000" b="1" dirty="0"/>
              <a:t>18496</a:t>
            </a:r>
            <a:r>
              <a:rPr lang="en-US" sz="2000" dirty="0"/>
              <a:t> Transactions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94C25C3-75C2-C332-DD90-01335A608A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392571"/>
              </p:ext>
            </p:extLst>
          </p:nvPr>
        </p:nvGraphicFramePr>
        <p:xfrm>
          <a:off x="714916" y="1407851"/>
          <a:ext cx="6772276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814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80A8-B1F1-6AB8-6B39-F7622550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Revenue By month and Weekdays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5F4F-6699-9814-4A70-55DB86CE4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245" y="1773059"/>
            <a:ext cx="5872480" cy="5919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Total </a:t>
            </a:r>
            <a:r>
              <a:rPr lang="en-US" dirty="0">
                <a:solidFill>
                  <a:schemeClr val="accent4"/>
                </a:solidFill>
              </a:rPr>
              <a:t>Revenue By month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39678-681A-72E3-7B47-40A8087F6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7877" y="1766720"/>
            <a:ext cx="5872480" cy="5919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Transaction by </a:t>
            </a:r>
            <a:r>
              <a:rPr lang="en-US" dirty="0">
                <a:solidFill>
                  <a:schemeClr val="accent4"/>
                </a:solidFill>
              </a:rPr>
              <a:t>day of the week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845783C-B54C-4A27-2441-9DB62D30B8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655136"/>
              </p:ext>
            </p:extLst>
          </p:nvPr>
        </p:nvGraphicFramePr>
        <p:xfrm>
          <a:off x="0" y="2355349"/>
          <a:ext cx="6277909" cy="3906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38648A4-4E9C-B1A7-C7F0-0319D70EC58F}"/>
              </a:ext>
            </a:extLst>
          </p:cNvPr>
          <p:cNvSpPr txBox="1"/>
          <p:nvPr/>
        </p:nvSpPr>
        <p:spPr>
          <a:xfrm>
            <a:off x="250951" y="6516667"/>
            <a:ext cx="5670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Insight</a:t>
            </a:r>
            <a:endParaRPr lang="en-US" dirty="0"/>
          </a:p>
          <a:p>
            <a:r>
              <a:rPr lang="en-US" dirty="0"/>
              <a:t>Store Revenue increases starting from </a:t>
            </a:r>
            <a:r>
              <a:rPr lang="en-US" b="1" dirty="0"/>
              <a:t>January </a:t>
            </a:r>
            <a:r>
              <a:rPr lang="en-US" dirty="0"/>
              <a:t>to </a:t>
            </a:r>
            <a:r>
              <a:rPr lang="en-US" b="1" dirty="0"/>
              <a:t>June</a:t>
            </a:r>
            <a:r>
              <a:rPr lang="en-US" dirty="0"/>
              <a:t>  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1099C5B-FAD7-3BC5-3886-66B2247C74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962226"/>
              </p:ext>
            </p:extLst>
          </p:nvPr>
        </p:nvGraphicFramePr>
        <p:xfrm>
          <a:off x="7848117" y="26705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755965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4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P_Certificate_25_win32_KB_V2" id="{267DDDAD-F68C-42C8-AA5F-1BBF302A71A0}" vid="{9E705A5D-953B-468F-BD72-BBC529A2D4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99A572-E97A-4E1B-80FE-1182A3A81F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5178F5-38E4-4969-878D-E583BCDA43E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5226723-9B32-460B-99DB-A43503298F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357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Century Gothic</vt:lpstr>
      <vt:lpstr>Freestyle Script</vt:lpstr>
      <vt:lpstr>Wingdings</vt:lpstr>
      <vt:lpstr>Custom</vt:lpstr>
      <vt:lpstr>Office Theme</vt:lpstr>
      <vt:lpstr>A Sales Performance Review- 1Jan - Jun 2023</vt:lpstr>
      <vt:lpstr> AGENDA Executive Summary: Igniting Revenue Growth &amp; Product excellence  This comprehensive sales analysis (Jan-Jun 2023) Highlights bright coffee shop robust growth trends and strategic opportunities. key insights identify morning (06:00-11:59) sales as a major contributor generating 55.6% of total revenue with 54.8% of customer volume, Coffee and tea as leading products collectively contributing 66.6% of total revenue, outline clear pathways to accelerate growth and enhance profitability.               ⚙️ PROJECT CONTEXT          📈 SALES TRENDS 💡 ANALYSIS                     🎯 RECOMMENDATION </vt:lpstr>
      <vt:lpstr>PowerPoint Presentation</vt:lpstr>
      <vt:lpstr>PowerPoint Presentation</vt:lpstr>
      <vt:lpstr>Number of Sales By product Category </vt:lpstr>
      <vt:lpstr>Revenue By month and Weekdays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Rofhiwa Dagada</dc:creator>
  <cp:lastModifiedBy>Rofhiwa Dagada</cp:lastModifiedBy>
  <cp:revision>7</cp:revision>
  <dcterms:created xsi:type="dcterms:W3CDTF">2026-03-27T20:10:53Z</dcterms:created>
  <dcterms:modified xsi:type="dcterms:W3CDTF">2026-03-28T22:13:08Z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